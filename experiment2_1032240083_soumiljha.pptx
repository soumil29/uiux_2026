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457200" y="366220"/>
            <a:ext cx="36576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 PERSONA</a:t>
            </a:r>
          </a:p>
        </p:txBody>
      </p:sp>
      <p:sp>
        <p:nvSpPr>
          <p:cNvPr id="21" name="Shape 1"/>
          <p:cNvSpPr/>
          <p:nvPr/>
        </p:nvSpPr>
        <p:spPr>
          <a:xfrm>
            <a:off x="457200" y="777240"/>
            <a:ext cx="4114800" cy="5806441"/>
          </a:xfrm>
          <a:prstGeom prst="roundRect">
            <a:avLst>
              <a:gd name="adj" fmla="val 2667"/>
            </a:avLst>
          </a:prstGeom>
          <a:solidFill>
            <a:srgbClr val="1818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7360" y="1051560"/>
            <a:ext cx="1554481" cy="15544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7" y="0"/>
                </a:moveTo>
                <a:cubicBezTo>
                  <a:pt x="4833" y="0"/>
                  <a:pt x="0" y="4833"/>
                  <a:pt x="0" y="10797"/>
                </a:cubicBezTo>
                <a:cubicBezTo>
                  <a:pt x="0" y="16762"/>
                  <a:pt x="4833" y="21600"/>
                  <a:pt x="10797" y="21600"/>
                </a:cubicBezTo>
                <a:cubicBezTo>
                  <a:pt x="16762" y="21600"/>
                  <a:pt x="21600" y="16762"/>
                  <a:pt x="21600" y="10797"/>
                </a:cubicBezTo>
                <a:cubicBezTo>
                  <a:pt x="21600" y="4833"/>
                  <a:pt x="16762" y="0"/>
                  <a:pt x="10797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3" name="Text 2"/>
          <p:cNvSpPr txBox="1"/>
          <p:nvPr/>
        </p:nvSpPr>
        <p:spPr>
          <a:xfrm>
            <a:off x="777239" y="2788920"/>
            <a:ext cx="347472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“Music is my constant companion — I just want to press play and enjoy it, without digging through menus.”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777239" y="3812285"/>
            <a:ext cx="34747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BASIC DETAILS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777239" y="4161028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777239" y="4360925"/>
            <a:ext cx="347472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777239" y="4581652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EDUCATION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777239" y="4744972"/>
            <a:ext cx="347472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Bachelor's in Arts and Design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777239" y="5002276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HOMETOWN</a:t>
            </a:r>
          </a:p>
        </p:txBody>
      </p:sp>
      <p:sp>
        <p:nvSpPr>
          <p:cNvPr id="30" name="Text 9"/>
          <p:cNvSpPr txBox="1"/>
          <p:nvPr/>
        </p:nvSpPr>
        <p:spPr>
          <a:xfrm>
            <a:off x="777239" y="5165597"/>
            <a:ext cx="34747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Austin, Texas</a:t>
            </a:r>
          </a:p>
        </p:txBody>
      </p:sp>
      <p:sp>
        <p:nvSpPr>
          <p:cNvPr id="31" name="Text 10"/>
          <p:cNvSpPr txBox="1"/>
          <p:nvPr/>
        </p:nvSpPr>
        <p:spPr>
          <a:xfrm>
            <a:off x="777239" y="5422899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FAMILY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777239" y="5586221"/>
            <a:ext cx="347472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Married, lives with his spouse</a:t>
            </a:r>
          </a:p>
        </p:txBody>
      </p:sp>
      <p:sp>
        <p:nvSpPr>
          <p:cNvPr id="33" name="Text 12"/>
          <p:cNvSpPr txBox="1"/>
          <p:nvPr/>
        </p:nvSpPr>
        <p:spPr>
          <a:xfrm>
            <a:off x="777239" y="5843524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OCCUPATION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777239" y="6006845"/>
            <a:ext cx="347472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Freelance Graphic Designer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4846320" y="823257"/>
            <a:ext cx="685800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Justin Trident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4846320" y="1365918"/>
            <a:ext cx="68580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Freelance Graphic Designer &amp; Everyday Music Listener</a:t>
            </a:r>
          </a:p>
        </p:txBody>
      </p:sp>
      <p:sp>
        <p:nvSpPr>
          <p:cNvPr id="37" name="Shape 16"/>
          <p:cNvSpPr/>
          <p:nvPr/>
        </p:nvSpPr>
        <p:spPr>
          <a:xfrm>
            <a:off x="4846320" y="1719072"/>
            <a:ext cx="6858001" cy="868681"/>
          </a:xfrm>
          <a:prstGeom prst="roundRect">
            <a:avLst>
              <a:gd name="adj" fmla="val 10526"/>
            </a:avLst>
          </a:prstGeom>
          <a:solidFill>
            <a:srgbClr val="1818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7"/>
          <p:cNvSpPr txBox="1"/>
          <p:nvPr/>
        </p:nvSpPr>
        <p:spPr>
          <a:xfrm>
            <a:off x="5102352" y="1927097"/>
            <a:ext cx="6345937" cy="45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Justin streams music and podcasts for 3–4 hours a day during his commute, while working on freelance design projects, and while unwinding at night. He loves how personalized Spotify feels, but often finds the Home screen overwhelming.</a:t>
            </a:r>
          </a:p>
        </p:txBody>
      </p:sp>
      <p:sp>
        <p:nvSpPr>
          <p:cNvPr id="39" name="Shape 18"/>
          <p:cNvSpPr/>
          <p:nvPr/>
        </p:nvSpPr>
        <p:spPr>
          <a:xfrm>
            <a:off x="4846320" y="2724911"/>
            <a:ext cx="6858001" cy="1810513"/>
          </a:xfrm>
          <a:prstGeom prst="roundRect">
            <a:avLst>
              <a:gd name="adj" fmla="val 5051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9"/>
          <p:cNvSpPr txBox="1"/>
          <p:nvPr/>
        </p:nvSpPr>
        <p:spPr>
          <a:xfrm>
            <a:off x="5102352" y="2870453"/>
            <a:ext cx="6345937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GOALS</a:t>
            </a:r>
          </a:p>
        </p:txBody>
      </p:sp>
      <p:sp>
        <p:nvSpPr>
          <p:cNvPr id="41" name="Text 20"/>
          <p:cNvSpPr txBox="1"/>
          <p:nvPr/>
        </p:nvSpPr>
        <p:spPr>
          <a:xfrm>
            <a:off x="5102352" y="3090672"/>
            <a:ext cx="6345937" cy="94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Quickly find and play favorite songs and playlists without friction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Discover new music tailored to his mood while commuting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Switch smoothly between music and podcasts in one app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Keep track of recently played and downloaded content easily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Understand advanced features like Smart Shuffle and Jam without extra effort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Enjoy a clutter-free, consistent experience across mobile and desktop</a:t>
            </a:r>
          </a:p>
        </p:txBody>
      </p:sp>
      <p:sp>
        <p:nvSpPr>
          <p:cNvPr id="42" name="Shape 21"/>
          <p:cNvSpPr/>
          <p:nvPr/>
        </p:nvSpPr>
        <p:spPr>
          <a:xfrm>
            <a:off x="4846320" y="4626864"/>
            <a:ext cx="6858001" cy="1874521"/>
          </a:xfrm>
          <a:prstGeom prst="roundRect">
            <a:avLst>
              <a:gd name="adj" fmla="val 4878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22"/>
          <p:cNvSpPr txBox="1"/>
          <p:nvPr/>
        </p:nvSpPr>
        <p:spPr>
          <a:xfrm>
            <a:off x="5102352" y="4772404"/>
            <a:ext cx="634593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FRUSTRATIONS</a:t>
            </a:r>
          </a:p>
        </p:txBody>
      </p:sp>
      <p:sp>
        <p:nvSpPr>
          <p:cNvPr id="44" name="Text 23"/>
          <p:cNvSpPr txBox="1"/>
          <p:nvPr/>
        </p:nvSpPr>
        <p:spPr>
          <a:xfrm>
            <a:off x="5102352" y="4992623"/>
            <a:ext cx="6345937" cy="94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Cluttered Home screen buries recently played content among endless recommendations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Shuffle, Jam and playlist tools aren't obvious for first-time use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Accidental playlist edits with no quick undo option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Mixing music, podcasts and audiobooks together reduces discoverability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Small secondary text and dark theme reduce readability in bright light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Navigating between playlists, podcasts and recommendations feels crowded</a:t>
            </a:r>
          </a:p>
        </p:txBody>
      </p:sp>
      <p:sp>
        <p:nvSpPr>
          <p:cNvPr id="45" name="Text 24"/>
          <p:cNvSpPr txBox="1"/>
          <p:nvPr/>
        </p:nvSpPr>
        <p:spPr>
          <a:xfrm>
            <a:off x="4846320" y="6588759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Persona based on: Assignment 1 — Critical Analysis of Spotify Interface  •  Soumil Jha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457200" y="366220"/>
            <a:ext cx="4572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USER JOURNEY MAP</a:t>
            </a:r>
          </a:p>
        </p:txBody>
      </p:sp>
      <p:sp>
        <p:nvSpPr>
          <p:cNvPr id="48" name="Text 1"/>
          <p:cNvSpPr txBox="1"/>
          <p:nvPr/>
        </p:nvSpPr>
        <p:spPr>
          <a:xfrm>
            <a:off x="457200" y="693695"/>
            <a:ext cx="548640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Persona: Justin Trident</a:t>
            </a:r>
          </a:p>
        </p:txBody>
      </p:sp>
      <p:sp>
        <p:nvSpPr>
          <p:cNvPr id="49" name="Text 2"/>
          <p:cNvSpPr txBox="1"/>
          <p:nvPr/>
        </p:nvSpPr>
        <p:spPr>
          <a:xfrm>
            <a:off x="457199" y="1084024"/>
            <a:ext cx="112471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Goal: Find and enjoy the right music or podcast quickly, without wading through clutter</a:t>
            </a:r>
          </a:p>
        </p:txBody>
      </p:sp>
      <p:sp>
        <p:nvSpPr>
          <p:cNvPr id="50" name="Shape 3"/>
          <p:cNvSpPr/>
          <p:nvPr/>
        </p:nvSpPr>
        <p:spPr>
          <a:xfrm>
            <a:off x="2240279" y="1554480"/>
            <a:ext cx="1810513" cy="914401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4"/>
          <p:cNvSpPr txBox="1"/>
          <p:nvPr/>
        </p:nvSpPr>
        <p:spPr>
          <a:xfrm>
            <a:off x="2331720" y="1874057"/>
            <a:ext cx="1627633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Opens App / Lands on Home</a:t>
            </a:r>
          </a:p>
        </p:txBody>
      </p:sp>
      <p:sp>
        <p:nvSpPr>
          <p:cNvPr id="52" name="Shape 5"/>
          <p:cNvSpPr/>
          <p:nvPr/>
        </p:nvSpPr>
        <p:spPr>
          <a:xfrm>
            <a:off x="4142232" y="1554480"/>
            <a:ext cx="1810513" cy="914401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6"/>
          <p:cNvSpPr txBox="1"/>
          <p:nvPr/>
        </p:nvSpPr>
        <p:spPr>
          <a:xfrm>
            <a:off x="4233671" y="1874057"/>
            <a:ext cx="1627633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Searches &amp; Browses Content</a:t>
            </a:r>
          </a:p>
        </p:txBody>
      </p:sp>
      <p:sp>
        <p:nvSpPr>
          <p:cNvPr id="54" name="Shape 7"/>
          <p:cNvSpPr/>
          <p:nvPr/>
        </p:nvSpPr>
        <p:spPr>
          <a:xfrm>
            <a:off x="6044184" y="1554480"/>
            <a:ext cx="1810513" cy="914401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8"/>
          <p:cNvSpPr txBox="1"/>
          <p:nvPr/>
        </p:nvSpPr>
        <p:spPr>
          <a:xfrm>
            <a:off x="6135623" y="1874057"/>
            <a:ext cx="1627633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Selects a Playlist or Podcast</a:t>
            </a:r>
          </a:p>
        </p:txBody>
      </p:sp>
      <p:sp>
        <p:nvSpPr>
          <p:cNvPr id="56" name="Shape 9"/>
          <p:cNvSpPr/>
          <p:nvPr/>
        </p:nvSpPr>
        <p:spPr>
          <a:xfrm>
            <a:off x="7946135" y="1554480"/>
            <a:ext cx="1810513" cy="914401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0"/>
          <p:cNvSpPr txBox="1"/>
          <p:nvPr/>
        </p:nvSpPr>
        <p:spPr>
          <a:xfrm>
            <a:off x="8037576" y="1943907"/>
            <a:ext cx="162763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Plays &amp; Uses Controls</a:t>
            </a:r>
          </a:p>
        </p:txBody>
      </p:sp>
      <p:sp>
        <p:nvSpPr>
          <p:cNvPr id="58" name="Shape 11"/>
          <p:cNvSpPr/>
          <p:nvPr/>
        </p:nvSpPr>
        <p:spPr>
          <a:xfrm>
            <a:off x="9848088" y="1554480"/>
            <a:ext cx="1810512" cy="914401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2"/>
          <p:cNvSpPr txBox="1"/>
          <p:nvPr/>
        </p:nvSpPr>
        <p:spPr>
          <a:xfrm>
            <a:off x="9939528" y="1874057"/>
            <a:ext cx="1627633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Explores Personalized Picks</a:t>
            </a:r>
          </a:p>
        </p:txBody>
      </p:sp>
      <p:sp>
        <p:nvSpPr>
          <p:cNvPr id="60" name="Shape 13"/>
          <p:cNvSpPr/>
          <p:nvPr/>
        </p:nvSpPr>
        <p:spPr>
          <a:xfrm>
            <a:off x="457200" y="2514600"/>
            <a:ext cx="1645921" cy="123444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4"/>
          <p:cNvSpPr txBox="1"/>
          <p:nvPr/>
        </p:nvSpPr>
        <p:spPr>
          <a:xfrm>
            <a:off x="457199" y="3064047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62" name="Shape 15"/>
          <p:cNvSpPr/>
          <p:nvPr/>
        </p:nvSpPr>
        <p:spPr>
          <a:xfrm>
            <a:off x="2240279" y="2514600"/>
            <a:ext cx="1810513" cy="1234440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6"/>
          <p:cNvSpPr txBox="1"/>
          <p:nvPr/>
        </p:nvSpPr>
        <p:spPr>
          <a:xfrm>
            <a:off x="2350007" y="294318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Scans Home screen for recently played or recommended content</a:t>
            </a:r>
          </a:p>
        </p:txBody>
      </p:sp>
      <p:sp>
        <p:nvSpPr>
          <p:cNvPr id="64" name="Shape 17"/>
          <p:cNvSpPr/>
          <p:nvPr/>
        </p:nvSpPr>
        <p:spPr>
          <a:xfrm>
            <a:off x="4142232" y="2514600"/>
            <a:ext cx="1810513" cy="1234440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8"/>
          <p:cNvSpPr txBox="1"/>
          <p:nvPr/>
        </p:nvSpPr>
        <p:spPr>
          <a:xfrm>
            <a:off x="4251959" y="294318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Uses search bar or browses categories for a specific song, artist, or podcast</a:t>
            </a:r>
          </a:p>
        </p:txBody>
      </p:sp>
      <p:sp>
        <p:nvSpPr>
          <p:cNvPr id="66" name="Shape 19"/>
          <p:cNvSpPr/>
          <p:nvPr/>
        </p:nvSpPr>
        <p:spPr>
          <a:xfrm>
            <a:off x="6044184" y="2514600"/>
            <a:ext cx="1810513" cy="1234440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20"/>
          <p:cNvSpPr txBox="1"/>
          <p:nvPr/>
        </p:nvSpPr>
        <p:spPr>
          <a:xfrm>
            <a:off x="6153911" y="294318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Taps a playlist, album, or podcast and reviews the track list</a:t>
            </a:r>
          </a:p>
        </p:txBody>
      </p:sp>
      <p:sp>
        <p:nvSpPr>
          <p:cNvPr id="68" name="Shape 21"/>
          <p:cNvSpPr/>
          <p:nvPr/>
        </p:nvSpPr>
        <p:spPr>
          <a:xfrm>
            <a:off x="7946135" y="2514600"/>
            <a:ext cx="1810513" cy="1234440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2"/>
          <p:cNvSpPr txBox="1"/>
          <p:nvPr/>
        </p:nvSpPr>
        <p:spPr>
          <a:xfrm>
            <a:off x="8055864" y="300668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Uses play, pause, skip and like controls; adjusts volume</a:t>
            </a:r>
          </a:p>
        </p:txBody>
      </p:sp>
      <p:sp>
        <p:nvSpPr>
          <p:cNvPr id="70" name="Shape 23"/>
          <p:cNvSpPr/>
          <p:nvPr/>
        </p:nvSpPr>
        <p:spPr>
          <a:xfrm>
            <a:off x="9848088" y="2514600"/>
            <a:ext cx="1810512" cy="1234440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4"/>
          <p:cNvSpPr txBox="1"/>
          <p:nvPr/>
        </p:nvSpPr>
        <p:spPr>
          <a:xfrm>
            <a:off x="9957816" y="294318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Explores Daily Mix and Discover Weekly; saves new recommendations</a:t>
            </a:r>
          </a:p>
        </p:txBody>
      </p:sp>
      <p:sp>
        <p:nvSpPr>
          <p:cNvPr id="72" name="Shape 25"/>
          <p:cNvSpPr/>
          <p:nvPr/>
        </p:nvSpPr>
        <p:spPr>
          <a:xfrm>
            <a:off x="457200" y="3794759"/>
            <a:ext cx="1645921" cy="1234441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6"/>
          <p:cNvSpPr txBox="1"/>
          <p:nvPr/>
        </p:nvSpPr>
        <p:spPr>
          <a:xfrm>
            <a:off x="457199" y="4344207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FEELING</a:t>
            </a:r>
          </a:p>
        </p:txBody>
      </p:sp>
      <p:sp>
        <p:nvSpPr>
          <p:cNvPr id="74" name="Shape 27"/>
          <p:cNvSpPr/>
          <p:nvPr/>
        </p:nvSpPr>
        <p:spPr>
          <a:xfrm>
            <a:off x="2240279" y="3794759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8"/>
          <p:cNvSpPr txBox="1"/>
          <p:nvPr/>
        </p:nvSpPr>
        <p:spPr>
          <a:xfrm>
            <a:off x="2350007" y="422334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Slightly overwhelmed — too many recommendation sections to scan</a:t>
            </a:r>
          </a:p>
        </p:txBody>
      </p:sp>
      <p:sp>
        <p:nvSpPr>
          <p:cNvPr id="76" name="Shape 29"/>
          <p:cNvSpPr/>
          <p:nvPr/>
        </p:nvSpPr>
        <p:spPr>
          <a:xfrm>
            <a:off x="4142232" y="3794759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30"/>
          <p:cNvSpPr txBox="1"/>
          <p:nvPr/>
        </p:nvSpPr>
        <p:spPr>
          <a:xfrm>
            <a:off x="4251959" y="428684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Confident — familiar icons make searching easy</a:t>
            </a:r>
          </a:p>
        </p:txBody>
      </p:sp>
      <p:sp>
        <p:nvSpPr>
          <p:cNvPr id="78" name="Shape 31"/>
          <p:cNvSpPr/>
          <p:nvPr/>
        </p:nvSpPr>
        <p:spPr>
          <a:xfrm>
            <a:off x="6044184" y="3794759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2"/>
          <p:cNvSpPr txBox="1"/>
          <p:nvPr/>
        </p:nvSpPr>
        <p:spPr>
          <a:xfrm>
            <a:off x="6153911" y="422334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Occasionally confused — music, podcasts &amp; audiobooks feel mixed together</a:t>
            </a:r>
          </a:p>
        </p:txBody>
      </p:sp>
      <p:sp>
        <p:nvSpPr>
          <p:cNvPr id="80" name="Shape 33"/>
          <p:cNvSpPr/>
          <p:nvPr/>
        </p:nvSpPr>
        <p:spPr>
          <a:xfrm>
            <a:off x="7946135" y="3794759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34"/>
          <p:cNvSpPr txBox="1"/>
          <p:nvPr/>
        </p:nvSpPr>
        <p:spPr>
          <a:xfrm>
            <a:off x="8055864" y="428684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control — clear feedback from progress bar &amp; play state</a:t>
            </a:r>
          </a:p>
        </p:txBody>
      </p:sp>
      <p:sp>
        <p:nvSpPr>
          <p:cNvPr id="82" name="Shape 35"/>
          <p:cNvSpPr/>
          <p:nvPr/>
        </p:nvSpPr>
        <p:spPr>
          <a:xfrm>
            <a:off x="9848088" y="3794759"/>
            <a:ext cx="1810512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36"/>
          <p:cNvSpPr txBox="1"/>
          <p:nvPr/>
        </p:nvSpPr>
        <p:spPr>
          <a:xfrm>
            <a:off x="9957816" y="428684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Delighted — recommendations feel personal and relevant</a:t>
            </a:r>
          </a:p>
        </p:txBody>
      </p:sp>
      <p:sp>
        <p:nvSpPr>
          <p:cNvPr id="84" name="Shape 37"/>
          <p:cNvSpPr/>
          <p:nvPr/>
        </p:nvSpPr>
        <p:spPr>
          <a:xfrm>
            <a:off x="457200" y="5074920"/>
            <a:ext cx="1645921" cy="1234441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38"/>
          <p:cNvSpPr txBox="1"/>
          <p:nvPr/>
        </p:nvSpPr>
        <p:spPr>
          <a:xfrm>
            <a:off x="457199" y="5554517"/>
            <a:ext cx="1645922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IMPROVEMENT</a:t>
            </a:r>
          </a:p>
          <a:p>
            <a:pPr algn="ctr">
              <a:defRPr b="1" sz="1000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OPPORTUNITY</a:t>
            </a:r>
          </a:p>
        </p:txBody>
      </p:sp>
      <p:sp>
        <p:nvSpPr>
          <p:cNvPr id="86" name="Shape 39"/>
          <p:cNvSpPr/>
          <p:nvPr/>
        </p:nvSpPr>
        <p:spPr>
          <a:xfrm>
            <a:off x="2240279" y="5074920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0"/>
          <p:cNvSpPr txBox="1"/>
          <p:nvPr/>
        </p:nvSpPr>
        <p:spPr>
          <a:xfrm>
            <a:off x="2350007" y="550350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Prioritize recently played content; reduce Home screen clutter</a:t>
            </a:r>
          </a:p>
        </p:txBody>
      </p:sp>
      <p:sp>
        <p:nvSpPr>
          <p:cNvPr id="88" name="Shape 41"/>
          <p:cNvSpPr/>
          <p:nvPr/>
        </p:nvSpPr>
        <p:spPr>
          <a:xfrm>
            <a:off x="4142232" y="5074920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42"/>
          <p:cNvSpPr txBox="1"/>
          <p:nvPr/>
        </p:nvSpPr>
        <p:spPr>
          <a:xfrm>
            <a:off x="4251959" y="550350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 short onboarding tips for Smart Shuffle, Jam &amp; playlist tools</a:t>
            </a:r>
          </a:p>
        </p:txBody>
      </p:sp>
      <p:sp>
        <p:nvSpPr>
          <p:cNvPr id="90" name="Shape 43"/>
          <p:cNvSpPr/>
          <p:nvPr/>
        </p:nvSpPr>
        <p:spPr>
          <a:xfrm>
            <a:off x="6044184" y="5074920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44"/>
          <p:cNvSpPr txBox="1"/>
          <p:nvPr/>
        </p:nvSpPr>
        <p:spPr>
          <a:xfrm>
            <a:off x="6153911" y="5503509"/>
            <a:ext cx="1591057" cy="377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Separate music, podcasts &amp; audiobooks in browse/search results</a:t>
            </a:r>
          </a:p>
        </p:txBody>
      </p:sp>
      <p:sp>
        <p:nvSpPr>
          <p:cNvPr id="92" name="Shape 45"/>
          <p:cNvSpPr/>
          <p:nvPr/>
        </p:nvSpPr>
        <p:spPr>
          <a:xfrm>
            <a:off x="7946135" y="5074920"/>
            <a:ext cx="1810513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46"/>
          <p:cNvSpPr txBox="1"/>
          <p:nvPr/>
        </p:nvSpPr>
        <p:spPr>
          <a:xfrm>
            <a:off x="8055864" y="556700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Offer a quick undo for accidental playlist changes</a:t>
            </a:r>
          </a:p>
        </p:txBody>
      </p:sp>
      <p:sp>
        <p:nvSpPr>
          <p:cNvPr id="94" name="Shape 47"/>
          <p:cNvSpPr/>
          <p:nvPr/>
        </p:nvSpPr>
        <p:spPr>
          <a:xfrm>
            <a:off x="9848088" y="5074920"/>
            <a:ext cx="1810512" cy="1234441"/>
          </a:xfrm>
          <a:prstGeom prst="roundRect">
            <a:avLst>
              <a:gd name="adj" fmla="val 4444"/>
            </a:avLst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48"/>
          <p:cNvSpPr txBox="1"/>
          <p:nvPr/>
        </p:nvSpPr>
        <p:spPr>
          <a:xfrm>
            <a:off x="9957816" y="5567009"/>
            <a:ext cx="1591057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Improve text size &amp; contrast for readability in bright light</a:t>
            </a:r>
          </a:p>
        </p:txBody>
      </p:sp>
      <p:sp>
        <p:nvSpPr>
          <p:cNvPr id="96" name="Text 49"/>
          <p:cNvSpPr txBox="1"/>
          <p:nvPr/>
        </p:nvSpPr>
        <p:spPr>
          <a:xfrm>
            <a:off x="457199" y="6520180"/>
            <a:ext cx="11247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Journey map based on: Assignment 1 — Critical Analysis of Spotify Interface  •  Soumil Jha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